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25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034aa30-4e27-6497-9f13-963ab831fbee}">
          <p14:sldIdLst>
            <p14:sldId id="256"/>
            <p14:sldId id="257"/>
          </p14:sldIdLst>
        </p14:section>
        <p14:section name="Данные и сеть" id="{6d388ae4-6771-2155-869b-ba5e472b7e65}">
          <p14:sldIdLst>
            <p14:sldId id="258"/>
            <p14:sldId id="259"/>
            <p14:sldId id="260"/>
            <p14:sldId id="261"/>
          </p14:sldIdLst>
        </p14:section>
        <p14:section name="Методы и качество" id="{49226b4c-6d82-5da6-2435-771b1b730753}">
          <p14:sldIdLst>
            <p14:sldId id="262"/>
            <p14:sldId id="263"/>
            <p14:sldId id="264"/>
          </p14:sldIdLst>
        </p14:section>
        <p14:section name="Результаты" id="{74c1c586-7836-e0fd-6590-2deb7b76d8d5}">
          <p14:sldIdLst>
            <p14:sldId id="265"/>
            <p14:sldId id="266"/>
            <p14:sldId id="267"/>
            <p14:sldId id="268"/>
            <p14:sldId id="269"/>
          </p14:sldIdLst>
        </p14:section>
        <p14:section name="Надёжность и применение" id="{2f394bfd-1130-5714-3af4-d0d82dfb6400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Силуэт в пространстве признаков (SW ↑)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</c:v>
                </c:pt>
              </c:strCache>
            </c:strRef>
          </c:tx>
          <c:spPr>
            <a:solidFill>
              <a:srgbClr val="7B4FC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Атрибуты (гауссово ядро)</c:v>
                  </c:pt>
                  <c:pt idx="1">
                    <c:v>Гибрид атрибуты + динамика</c:v>
                  </c:pt>
                  <c:pt idx="2">
                    <c:v>Косинус структуры трат</c:v>
                  </c:pt>
                  <c:pt idx="3">
                    <c:v>Дорожная близость</c:v>
                  </c:pt>
                  <c:pt idx="4">
                    <c:v>Корреляция динамики</c:v>
                  </c:pt>
                  <c:pt idx="5">
                    <c:v>Лаговая корреляция</c:v>
                  </c:pt>
                  <c:pt idx="6">
                    <c:v>DTW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0.118</c:v>
                </c:pt>
                <c:pt idx="1">
                  <c:v>0.032</c:v>
                </c:pt>
                <c:pt idx="2">
                  <c:v>0.008</c:v>
                </c:pt>
                <c:pt idx="3">
                  <c:v>-0.039</c:v>
                </c:pt>
                <c:pt idx="4">
                  <c:v>-0.044</c:v>
                </c:pt>
                <c:pt idx="5">
                  <c:v>-0.071</c:v>
                </c:pt>
                <c:pt idx="6">
                  <c:v>-0.071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E45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Изолированность на своём графе (AVI ↑)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AVI</c:v>
                </c:pt>
              </c:strCache>
            </c:strRef>
          </c:tx>
          <c:spPr>
            <a:solidFill>
              <a:srgbClr val="1480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Атрибуты (гауссово ядро)</c:v>
                  </c:pt>
                  <c:pt idx="1">
                    <c:v>Гибрид атрибуты + динамика</c:v>
                  </c:pt>
                  <c:pt idx="2">
                    <c:v>Косинус структуры трат</c:v>
                  </c:pt>
                  <c:pt idx="3">
                    <c:v>Дорожная близость</c:v>
                  </c:pt>
                  <c:pt idx="4">
                    <c:v>Корреляция динамики</c:v>
                  </c:pt>
                  <c:pt idx="5">
                    <c:v>Лаговая корреляция</c:v>
                  </c:pt>
                  <c:pt idx="6">
                    <c:v>DTW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0.774</c:v>
                </c:pt>
                <c:pt idx="1">
                  <c:v>0.628</c:v>
                </c:pt>
                <c:pt idx="2">
                  <c:v>0.81</c:v>
                </c:pt>
                <c:pt idx="3">
                  <c:v>0.987</c:v>
                </c:pt>
                <c:pt idx="4">
                  <c:v>0.687</c:v>
                </c:pt>
                <c:pt idx="5">
                  <c:v>0.571</c:v>
                </c:pt>
                <c:pt idx="6">
                  <c:v>0.684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E45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Устойчивость (ARI на подвыборках)</c:v>
                </c:pt>
              </c:strCache>
            </c:strRef>
          </c:tx>
          <c:spPr>
            <a:solidFill>
              <a:srgbClr val="1F2328"/>
            </a:solidFill>
            <a:ln w="31750" cap="flat">
              <a:solidFill>
                <a:srgbClr val="1F23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2328"/>
              </a:solidFill>
              <a:ln w="9525" cap="flat">
                <a:solidFill>
                  <a:srgbClr val="1F23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0.842</c:v>
                </c:pt>
                <c:pt idx="1">
                  <c:v>0.909</c:v>
                </c:pt>
                <c:pt idx="2">
                  <c:v>0.887</c:v>
                </c:pt>
                <c:pt idx="3">
                  <c:v>0.899</c:v>
                </c:pt>
                <c:pt idx="4">
                  <c:v>0.832</c:v>
                </c:pt>
                <c:pt idx="5">
                  <c:v>0.526</c:v>
                </c:pt>
                <c:pt idx="6">
                  <c:v>0.605</c:v>
                </c:pt>
                <c:pt idx="7">
                  <c:v>0.549</c:v>
                </c:pt>
                <c:pt idx="8">
                  <c:v>0.622</c:v>
                </c:pt>
                <c:pt idx="9">
                  <c:v>0.562</c:v>
                </c:pt>
                <c:pt idx="10">
                  <c:v>0.619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Силуэт (SW)</c:v>
                </c:pt>
              </c:strCache>
            </c:strRef>
          </c:tx>
          <c:spPr>
            <a:solidFill>
              <a:srgbClr val="7B4FC9"/>
            </a:solidFill>
            <a:ln w="31750" cap="flat">
              <a:solidFill>
                <a:srgbClr val="7B4F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B4FC9"/>
              </a:solidFill>
              <a:ln w="9525" cap="flat">
                <a:solidFill>
                  <a:srgbClr val="7B4F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0.217</c:v>
                </c:pt>
                <c:pt idx="1">
                  <c:v>0.176</c:v>
                </c:pt>
                <c:pt idx="2">
                  <c:v>0.157</c:v>
                </c:pt>
                <c:pt idx="3">
                  <c:v>0.149</c:v>
                </c:pt>
                <c:pt idx="4">
                  <c:v>0.118</c:v>
                </c:pt>
                <c:pt idx="5">
                  <c:v>0.091</c:v>
                </c:pt>
                <c:pt idx="6">
                  <c:v>0.091</c:v>
                </c:pt>
                <c:pt idx="7">
                  <c:v>0.077</c:v>
                </c:pt>
                <c:pt idx="8">
                  <c:v>0.076</c:v>
                </c:pt>
                <c:pt idx="9">
                  <c:v>0.076</c:v>
                </c:pt>
                <c:pt idx="10">
                  <c:v>0.066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Порог 0,8</c:v>
                </c:pt>
              </c:strCache>
            </c:strRef>
          </c:tx>
          <c:spPr>
            <a:solidFill>
              <a:srgbClr val="B6BCC4"/>
            </a:solidFill>
            <a:ln w="31750" cap="flat">
              <a:solidFill>
                <a:srgbClr val="B6BC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6BCC4"/>
              </a:solidFill>
              <a:ln w="9525" cap="flat">
                <a:solidFill>
                  <a:srgbClr val="B6BC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1697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16975"/>
                    </a:solidFill>
                    <a:latin typeface="Arial"/>
                  </a:rPr>
                  <a:t>число типов 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169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E45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Столичные пригороды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2.8</c:v>
                </c:pt>
                <c:pt idx="1">
                  <c:v>2.9</c:v>
                </c:pt>
                <c:pt idx="2">
                  <c:v>2.8</c:v>
                </c:pt>
                <c:pt idx="3">
                  <c:v>2.8</c:v>
                </c:pt>
                <c:pt idx="4">
                  <c:v>2.8</c:v>
                </c:pt>
                <c:pt idx="5">
                  <c:v>2.9</c:v>
                </c:pt>
                <c:pt idx="6">
                  <c:v>3.0</c:v>
                </c:pt>
                <c:pt idx="7">
                  <c:v>3.1</c:v>
                </c:pt>
                <c:pt idx="8">
                  <c:v>3.1</c:v>
                </c:pt>
                <c:pt idx="9">
                  <c:v>3.1</c:v>
                </c:pt>
                <c:pt idx="10">
                  <c:v>3.3</c:v>
                </c:pt>
                <c:pt idx="11">
                  <c:v>3.3</c:v>
                </c:pt>
                <c:pt idx="12">
                  <c:v>3.2</c:v>
                </c:pt>
                <c:pt idx="13">
                  <c:v>3.3</c:v>
                </c:pt>
                <c:pt idx="14">
                  <c:v>3.2</c:v>
                </c:pt>
                <c:pt idx="15">
                  <c:v>3.3</c:v>
                </c:pt>
                <c:pt idx="16">
                  <c:v>3.3</c:v>
                </c:pt>
                <c:pt idx="17">
                  <c:v>3.3</c:v>
                </c:pt>
                <c:pt idx="18">
                  <c:v>3.1</c:v>
                </c:pt>
                <c:pt idx="19">
                  <c:v>3.3</c:v>
                </c:pt>
                <c:pt idx="20">
                  <c:v>3.3</c:v>
                </c:pt>
                <c:pt idx="21">
                  <c:v>3.3</c:v>
                </c:pt>
                <c:pt idx="22">
                  <c:v>3.2</c:v>
                </c:pt>
                <c:pt idx="23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Удалённый Северо-Восток</c:v>
                </c:pt>
              </c:strCache>
            </c:strRef>
          </c:tx>
          <c:spPr>
            <a:solidFill>
              <a:srgbClr val="7CC6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3.3</c:v>
                </c:pt>
                <c:pt idx="4">
                  <c:v>3.1</c:v>
                </c:pt>
                <c:pt idx="5">
                  <c:v>3.0</c:v>
                </c:pt>
                <c:pt idx="6">
                  <c:v>2.8</c:v>
                </c:pt>
                <c:pt idx="7">
                  <c:v>2.6</c:v>
                </c:pt>
                <c:pt idx="8">
                  <c:v>2.5</c:v>
                </c:pt>
                <c:pt idx="9">
                  <c:v>2.5</c:v>
                </c:pt>
                <c:pt idx="10">
                  <c:v>2.4</c:v>
                </c:pt>
                <c:pt idx="11">
                  <c:v>2.3</c:v>
                </c:pt>
                <c:pt idx="12">
                  <c:v>2.4</c:v>
                </c:pt>
                <c:pt idx="13">
                  <c:v>2.4</c:v>
                </c:pt>
                <c:pt idx="14">
                  <c:v>2.5</c:v>
                </c:pt>
                <c:pt idx="15">
                  <c:v>2.4</c:v>
                </c:pt>
                <c:pt idx="16">
                  <c:v>2.3</c:v>
                </c:pt>
                <c:pt idx="17">
                  <c:v>2.4</c:v>
                </c:pt>
                <c:pt idx="18">
                  <c:v>2.2</c:v>
                </c:pt>
                <c:pt idx="19">
                  <c:v>1.9</c:v>
                </c:pt>
                <c:pt idx="20">
                  <c:v>2.4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Ресурсные центры</c:v>
                </c:pt>
              </c:strCache>
            </c:strRef>
          </c:tx>
          <c:spPr>
            <a:solidFill>
              <a:srgbClr val="7A52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5.2</c:v>
                </c:pt>
                <c:pt idx="1">
                  <c:v>5.2</c:v>
                </c:pt>
                <c:pt idx="2">
                  <c:v>5.0</c:v>
                </c:pt>
                <c:pt idx="3">
                  <c:v>5.0</c:v>
                </c:pt>
                <c:pt idx="4">
                  <c:v>4.9</c:v>
                </c:pt>
                <c:pt idx="5">
                  <c:v>5.0</c:v>
                </c:pt>
                <c:pt idx="6">
                  <c:v>4.8</c:v>
                </c:pt>
                <c:pt idx="7">
                  <c:v>5.0</c:v>
                </c:pt>
                <c:pt idx="8">
                  <c:v>4.9</c:v>
                </c:pt>
                <c:pt idx="9">
                  <c:v>4.8</c:v>
                </c:pt>
                <c:pt idx="10">
                  <c:v>5.0</c:v>
                </c:pt>
                <c:pt idx="11">
                  <c:v>5.0</c:v>
                </c:pt>
                <c:pt idx="12">
                  <c:v>5.1</c:v>
                </c:pt>
                <c:pt idx="13">
                  <c:v>5.1</c:v>
                </c:pt>
                <c:pt idx="14">
                  <c:v>5.1</c:v>
                </c:pt>
                <c:pt idx="15">
                  <c:v>4.9</c:v>
                </c:pt>
                <c:pt idx="16">
                  <c:v>4.6</c:v>
                </c:pt>
                <c:pt idx="17">
                  <c:v>4.4</c:v>
                </c:pt>
                <c:pt idx="18">
                  <c:v>2.5</c:v>
                </c:pt>
                <c:pt idx="19">
                  <c:v>2.6</c:v>
                </c:pt>
                <c:pt idx="20">
                  <c:v>3.0</c:v>
                </c:pt>
                <c:pt idx="21">
                  <c:v>3.7</c:v>
                </c:pt>
                <c:pt idx="22">
                  <c:v>4.1</c:v>
                </c:pt>
                <c:pt idx="23">
                  <c:v>4.2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Крупные города</c:v>
                </c:pt>
              </c:strCache>
            </c:strRef>
          </c:tx>
          <c:spPr>
            <a:solidFill>
              <a:srgbClr val="7B4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5.1</c:v>
                </c:pt>
                <c:pt idx="1">
                  <c:v>5.1</c:v>
                </c:pt>
                <c:pt idx="2">
                  <c:v>5.1</c:v>
                </c:pt>
                <c:pt idx="3">
                  <c:v>5.1</c:v>
                </c:pt>
                <c:pt idx="4">
                  <c:v>5.0</c:v>
                </c:pt>
                <c:pt idx="5">
                  <c:v>5.0</c:v>
                </c:pt>
                <c:pt idx="6">
                  <c:v>5.0</c:v>
                </c:pt>
                <c:pt idx="7">
                  <c:v>5.3</c:v>
                </c:pt>
                <c:pt idx="8">
                  <c:v>5.1</c:v>
                </c:pt>
                <c:pt idx="9">
                  <c:v>5.1</c:v>
                </c:pt>
                <c:pt idx="10">
                  <c:v>4.9</c:v>
                </c:pt>
                <c:pt idx="11">
                  <c:v>4.8</c:v>
                </c:pt>
                <c:pt idx="12">
                  <c:v>4.8</c:v>
                </c:pt>
                <c:pt idx="13">
                  <c:v>4.7</c:v>
                </c:pt>
                <c:pt idx="14">
                  <c:v>4.7</c:v>
                </c:pt>
                <c:pt idx="15">
                  <c:v>4.6</c:v>
                </c:pt>
                <c:pt idx="16">
                  <c:v>4.5</c:v>
                </c:pt>
                <c:pt idx="17">
                  <c:v>4.6</c:v>
                </c:pt>
                <c:pt idx="18">
                  <c:v>3.9</c:v>
                </c:pt>
                <c:pt idx="19">
                  <c:v>4.1</c:v>
                </c:pt>
                <c:pt idx="20">
                  <c:v>4.4</c:v>
                </c:pt>
                <c:pt idx="21">
                  <c:v>4.6</c:v>
                </c:pt>
                <c:pt idx="22">
                  <c:v>4.7</c:v>
                </c:pt>
                <c:pt idx="23">
                  <c:v>4.7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Сибирь, ДВ и Север</c:v>
                </c:pt>
              </c:strCache>
            </c:strRef>
          </c:tx>
          <c:spPr>
            <a:solidFill>
              <a:srgbClr val="1480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10.4</c:v>
                </c:pt>
                <c:pt idx="1">
                  <c:v>10.4</c:v>
                </c:pt>
                <c:pt idx="2">
                  <c:v>9.5</c:v>
                </c:pt>
                <c:pt idx="3">
                  <c:v>9.9</c:v>
                </c:pt>
                <c:pt idx="4">
                  <c:v>10.0</c:v>
                </c:pt>
                <c:pt idx="5">
                  <c:v>9.9</c:v>
                </c:pt>
                <c:pt idx="6">
                  <c:v>9.8</c:v>
                </c:pt>
                <c:pt idx="7">
                  <c:v>8.4</c:v>
                </c:pt>
                <c:pt idx="8">
                  <c:v>8.2</c:v>
                </c:pt>
                <c:pt idx="9">
                  <c:v>8.8</c:v>
                </c:pt>
                <c:pt idx="10">
                  <c:v>9.3</c:v>
                </c:pt>
                <c:pt idx="11">
                  <c:v>9.8</c:v>
                </c:pt>
                <c:pt idx="12">
                  <c:v>8.7</c:v>
                </c:pt>
                <c:pt idx="13">
                  <c:v>9.9</c:v>
                </c:pt>
                <c:pt idx="14">
                  <c:v>10.2</c:v>
                </c:pt>
                <c:pt idx="15">
                  <c:v>10.7</c:v>
                </c:pt>
                <c:pt idx="16">
                  <c:v>11.0</c:v>
                </c:pt>
                <c:pt idx="17">
                  <c:v>11.1</c:v>
                </c:pt>
                <c:pt idx="18">
                  <c:v>9.8</c:v>
                </c:pt>
                <c:pt idx="19">
                  <c:v>9.1</c:v>
                </c:pt>
                <c:pt idx="20">
                  <c:v>8.7</c:v>
                </c:pt>
                <c:pt idx="21">
                  <c:v>11.0</c:v>
                </c:pt>
                <c:pt idx="22">
                  <c:v>10.6</c:v>
                </c:pt>
                <c:pt idx="23">
                  <c:v>10.9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Индустриальные города</c:v>
                </c:pt>
              </c:strCache>
            </c:strRef>
          </c:tx>
          <c:spPr>
            <a:solidFill>
              <a:srgbClr val="C245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30.8</c:v>
                </c:pt>
                <c:pt idx="1">
                  <c:v>30.7</c:v>
                </c:pt>
                <c:pt idx="2">
                  <c:v>30.7</c:v>
                </c:pt>
                <c:pt idx="3">
                  <c:v>29.9</c:v>
                </c:pt>
                <c:pt idx="4">
                  <c:v>29.1</c:v>
                </c:pt>
                <c:pt idx="5">
                  <c:v>28.2</c:v>
                </c:pt>
                <c:pt idx="6">
                  <c:v>27.4</c:v>
                </c:pt>
                <c:pt idx="7">
                  <c:v>27.4</c:v>
                </c:pt>
                <c:pt idx="8">
                  <c:v>27.3</c:v>
                </c:pt>
                <c:pt idx="9">
                  <c:v>27.0</c:v>
                </c:pt>
                <c:pt idx="10">
                  <c:v>27.5</c:v>
                </c:pt>
                <c:pt idx="11">
                  <c:v>27.3</c:v>
                </c:pt>
                <c:pt idx="12">
                  <c:v>26.4</c:v>
                </c:pt>
                <c:pt idx="13">
                  <c:v>25.6</c:v>
                </c:pt>
                <c:pt idx="14">
                  <c:v>25.7</c:v>
                </c:pt>
                <c:pt idx="15">
                  <c:v>25.3</c:v>
                </c:pt>
                <c:pt idx="16">
                  <c:v>25.3</c:v>
                </c:pt>
                <c:pt idx="17">
                  <c:v>24.9</c:v>
                </c:pt>
                <c:pt idx="18">
                  <c:v>25.8</c:v>
                </c:pt>
                <c:pt idx="19">
                  <c:v>26.0</c:v>
                </c:pt>
                <c:pt idx="20">
                  <c:v>25.7</c:v>
                </c:pt>
                <c:pt idx="21">
                  <c:v>25.6</c:v>
                </c:pt>
                <c:pt idx="22">
                  <c:v>25.3</c:v>
                </c:pt>
                <c:pt idx="23">
                  <c:v>23.9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Сельская Сибирь и Север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Sheet1!$H$2:$H$25</c:f>
              <c:numCache>
                <c:formatCode>General</c:formatCode>
                <c:ptCount val="24"/>
                <c:pt idx="0">
                  <c:v>3.8</c:v>
                </c:pt>
                <c:pt idx="1">
                  <c:v>3.9</c:v>
                </c:pt>
                <c:pt idx="2">
                  <c:v>4.3</c:v>
                </c:pt>
                <c:pt idx="3">
                  <c:v>4.4</c:v>
                </c:pt>
                <c:pt idx="4">
                  <c:v>4.6</c:v>
                </c:pt>
                <c:pt idx="5">
                  <c:v>5.4</c:v>
                </c:pt>
                <c:pt idx="6">
                  <c:v>6.3</c:v>
                </c:pt>
                <c:pt idx="7">
                  <c:v>7.4</c:v>
                </c:pt>
                <c:pt idx="8">
                  <c:v>8.3</c:v>
                </c:pt>
                <c:pt idx="9">
                  <c:v>6.9</c:v>
                </c:pt>
                <c:pt idx="10">
                  <c:v>5.2</c:v>
                </c:pt>
                <c:pt idx="11">
                  <c:v>4.1</c:v>
                </c:pt>
                <c:pt idx="12">
                  <c:v>3.7</c:v>
                </c:pt>
                <c:pt idx="13">
                  <c:v>3.0</c:v>
                </c:pt>
                <c:pt idx="14">
                  <c:v>3.1</c:v>
                </c:pt>
                <c:pt idx="15">
                  <c:v>3.4</c:v>
                </c:pt>
                <c:pt idx="16">
                  <c:v>3.8</c:v>
                </c:pt>
                <c:pt idx="17">
                  <c:v>3.8</c:v>
                </c:pt>
                <c:pt idx="18">
                  <c:v>8.6</c:v>
                </c:pt>
                <c:pt idx="19">
                  <c:v>9.9</c:v>
                </c:pt>
                <c:pt idx="20">
                  <c:v>9.2</c:v>
                </c:pt>
                <c:pt idx="21">
                  <c:v>6.3</c:v>
                </c:pt>
                <c:pt idx="22">
                  <c:v>6.6</c:v>
                </c:pt>
                <c:pt idx="23">
                  <c:v>6.8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Аграрная глубинка</c:v>
                </c:pt>
              </c:strCache>
            </c:strRef>
          </c:tx>
          <c:spPr>
            <a:solidFill>
              <a:srgbClr val="E0B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янв 23</c:v>
                </c:pt>
                <c:pt idx="1">
                  <c:v>фев 23</c:v>
                </c:pt>
                <c:pt idx="2">
                  <c:v>мар 23</c:v>
                </c:pt>
                <c:pt idx="3">
                  <c:v>апр 23</c:v>
                </c:pt>
                <c:pt idx="4">
                  <c:v>май 23</c:v>
                </c:pt>
                <c:pt idx="5">
                  <c:v>июн 23</c:v>
                </c:pt>
                <c:pt idx="6">
                  <c:v>июл 23</c:v>
                </c:pt>
                <c:pt idx="7">
                  <c:v>авг 23</c:v>
                </c:pt>
                <c:pt idx="8">
                  <c:v>сен 23</c:v>
                </c:pt>
                <c:pt idx="9">
                  <c:v>окт 23</c:v>
                </c:pt>
                <c:pt idx="10">
                  <c:v>ноя 23</c:v>
                </c:pt>
                <c:pt idx="11">
                  <c:v>дек 23</c:v>
                </c:pt>
                <c:pt idx="12">
                  <c:v>янв 24</c:v>
                </c:pt>
                <c:pt idx="13">
                  <c:v>фев 24</c:v>
                </c:pt>
                <c:pt idx="14">
                  <c:v>мар 24</c:v>
                </c:pt>
                <c:pt idx="15">
                  <c:v>апр 24</c:v>
                </c:pt>
                <c:pt idx="16">
                  <c:v>май 24</c:v>
                </c:pt>
                <c:pt idx="17">
                  <c:v>июн 24</c:v>
                </c:pt>
                <c:pt idx="18">
                  <c:v>июл 24</c:v>
                </c:pt>
                <c:pt idx="19">
                  <c:v>авг 24</c:v>
                </c:pt>
                <c:pt idx="20">
                  <c:v>сен 24</c:v>
                </c:pt>
                <c:pt idx="21">
                  <c:v>окт 24</c:v>
                </c:pt>
                <c:pt idx="22">
                  <c:v>ноя 24</c:v>
                </c:pt>
                <c:pt idx="23">
                  <c:v>дек 24</c:v>
                </c:pt>
              </c:strCache>
            </c:strRef>
          </c:cat>
          <c:val>
            <c:numRef>
              <c:f>Sheet1!$I$2:$I$25</c:f>
              <c:numCache>
                <c:formatCode>General</c:formatCode>
                <c:ptCount val="24"/>
                <c:pt idx="0">
                  <c:v>38.7</c:v>
                </c:pt>
                <c:pt idx="1">
                  <c:v>38.6</c:v>
                </c:pt>
                <c:pt idx="2">
                  <c:v>39.2</c:v>
                </c:pt>
                <c:pt idx="3">
                  <c:v>39.8</c:v>
                </c:pt>
                <c:pt idx="4">
                  <c:v>40.4</c:v>
                </c:pt>
                <c:pt idx="5">
                  <c:v>40.6</c:v>
                </c:pt>
                <c:pt idx="6">
                  <c:v>40.9</c:v>
                </c:pt>
                <c:pt idx="7">
                  <c:v>40.8</c:v>
                </c:pt>
                <c:pt idx="8">
                  <c:v>40.7</c:v>
                </c:pt>
                <c:pt idx="9">
                  <c:v>41.7</c:v>
                </c:pt>
                <c:pt idx="10">
                  <c:v>42.5</c:v>
                </c:pt>
                <c:pt idx="11">
                  <c:v>43.5</c:v>
                </c:pt>
                <c:pt idx="12">
                  <c:v>45.8</c:v>
                </c:pt>
                <c:pt idx="13">
                  <c:v>46.0</c:v>
                </c:pt>
                <c:pt idx="14">
                  <c:v>45.5</c:v>
                </c:pt>
                <c:pt idx="15">
                  <c:v>45.3</c:v>
                </c:pt>
                <c:pt idx="16">
                  <c:v>45.2</c:v>
                </c:pt>
                <c:pt idx="17">
                  <c:v>45.6</c:v>
                </c:pt>
                <c:pt idx="18">
                  <c:v>44.1</c:v>
                </c:pt>
                <c:pt idx="19">
                  <c:v>43.1</c:v>
                </c:pt>
                <c:pt idx="20">
                  <c:v>43.4</c:v>
                </c:pt>
                <c:pt idx="21">
                  <c:v>43.4</c:v>
                </c:pt>
                <c:pt idx="22">
                  <c:v>43.3</c:v>
                </c:pt>
                <c:pt idx="23">
                  <c:v>44.2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69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169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E45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янв 23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Столичные пригороды</c:v>
                </c:pt>
                <c:pt idx="1">
                  <c:v>Удалённый Северо-Восток</c:v>
                </c:pt>
                <c:pt idx="2">
                  <c:v>Ресурсные центры</c:v>
                </c:pt>
                <c:pt idx="3">
                  <c:v>Крупные города</c:v>
                </c:pt>
                <c:pt idx="4">
                  <c:v>Сибирь, ДВ и Север</c:v>
                </c:pt>
                <c:pt idx="5">
                  <c:v>Индустриальные города</c:v>
                </c:pt>
                <c:pt idx="6">
                  <c:v>Сельская Сибирь и Север</c:v>
                </c:pt>
                <c:pt idx="7">
                  <c:v>Аграрная глубинка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11.3</c:v>
                </c:pt>
                <c:pt idx="1">
                  <c:v>3.7</c:v>
                </c:pt>
                <c:pt idx="2">
                  <c:v>9.2</c:v>
                </c:pt>
                <c:pt idx="3">
                  <c:v>8.3</c:v>
                </c:pt>
                <c:pt idx="4">
                  <c:v>8.3</c:v>
                </c:pt>
                <c:pt idx="5">
                  <c:v>10.1</c:v>
                </c:pt>
                <c:pt idx="6">
                  <c:v>10.1</c:v>
                </c:pt>
                <c:pt idx="7">
                  <c:v>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дек 24</c:v>
                </c:pt>
              </c:strCache>
            </c:strRef>
          </c:tx>
          <c:spPr>
            <a:solidFill>
              <a:srgbClr val="1F23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Столичные пригороды</c:v>
                </c:pt>
                <c:pt idx="1">
                  <c:v>Удалённый Северо-Восток</c:v>
                </c:pt>
                <c:pt idx="2">
                  <c:v>Ресурсные центры</c:v>
                </c:pt>
                <c:pt idx="3">
                  <c:v>Крупные города</c:v>
                </c:pt>
                <c:pt idx="4">
                  <c:v>Сибирь, ДВ и Север</c:v>
                </c:pt>
                <c:pt idx="5">
                  <c:v>Индустриальные города</c:v>
                </c:pt>
                <c:pt idx="6">
                  <c:v>Сельская Сибирь и Север</c:v>
                </c:pt>
                <c:pt idx="7">
                  <c:v>Аграрная глубинка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18.3</c:v>
                </c:pt>
                <c:pt idx="1">
                  <c:v>8.4</c:v>
                </c:pt>
                <c:pt idx="2">
                  <c:v>17.8</c:v>
                </c:pt>
                <c:pt idx="3">
                  <c:v>16.1</c:v>
                </c:pt>
                <c:pt idx="4">
                  <c:v>16.9</c:v>
                </c:pt>
                <c:pt idx="5">
                  <c:v>19.8</c:v>
                </c:pt>
                <c:pt idx="6">
                  <c:v>19.9</c:v>
                </c:pt>
                <c:pt idx="7">
                  <c:v>21.8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E45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E45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ARI</c:v>
                </c:pt>
              </c:strCache>
            </c:strRef>
          </c:tx>
          <c:spPr>
            <a:solidFill>
              <a:srgbClr val="1480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E4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без блока «Сезонность»</c:v>
                </c:pt>
                <c:pt idx="1">
                  <c:v>без блока «Структура трат»</c:v>
                </c:pt>
                <c:pt idx="2">
                  <c:v>без блока «География»</c:v>
                </c:pt>
                <c:pt idx="3">
                  <c:v>без блока «Отрасли»</c:v>
                </c:pt>
                <c:pt idx="4">
                  <c:v>без блока «Уровень трат»</c:v>
                </c:pt>
                <c:pt idx="5">
                  <c:v>без блока «Рынок труда»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0.444</c:v>
                </c:pt>
                <c:pt idx="1">
                  <c:v>0.568</c:v>
                </c:pt>
                <c:pt idx="2">
                  <c:v>0.568</c:v>
                </c:pt>
                <c:pt idx="3">
                  <c:v>0.633</c:v>
                </c:pt>
                <c:pt idx="4">
                  <c:v>0.685</c:v>
                </c:pt>
                <c:pt idx="5">
                  <c:v>0.8749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E45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Проект: типология российских муниципалитетов по экономике. Восемь фишек — восемь найденных типов; их цвет следует смыслу: колос — аграрная глубинка, снежинка — Северо-Восток и т. 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цифры проекта. Восемь типов устойчивы: при девяти устойчивость на подвыборках обрывается.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Обязательное условие конкурса — использовать датасет СберИндекса: мы используем четыре его набора.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так много признаков: по смыслу это шесть характеристик; доли — части одного целого. Проверка исключением блоков — на слайде про устойчивость.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«описание сетевой и атрибутивной структуры». Альтернативы — корреляции, лаги, DTW, расстояния —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правил прямо закрывает критерий: корреляции, лаговые корреляции и DTW, расстояния — все перечисленные в задании варианты.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Критерии «Сравнение методов» и «Применение ICVI». Все шесть индексов реализованы в src/sbx/validity.py и проверены тестами на графах с известным ответом.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Ben-Hur, Elisseeff, Guyon (2002). MQ при этом растёт до k =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Математический подход к отслеживанию изменений кластеров во времени: PCQ (Chi et al., KDD 2007) с экспоненциальной памятью; сравнение — с эволюционными K-means и AGC (Chakrabarti et al., 2006).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на июнь 2024. На лендинге она интерактивная: по месяцам, со слоями и фишками.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Типы упорядочены по убыванию трат жителя. Цвет фишки следует смыслу пиктограммы.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Типы упорядочены по убыванию трат жителя. Цвет фишки следует смыслу пиктограммы.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Сдвиг индустриального типа совпадает со сменой года в данных Росстата — это наблюдение, а не установленная причина.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Изменение экономики внутри типа, а не его состава.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исключить отрасли, распадаются ресурсные центры; без сезонности — Северо-Восток; без географии — крупные города.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Практическая польза: сравнение, политика, мониторинг.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Воспроизводимость — часть самого весомого критерия (30%).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Все материалы открыты под лицензиями MIT (код) и CC BY-SA 4.0 (результаты).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CED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975"/>
                </a:solidFill>
              </a:rPr>
              <a:t>Типы локальных экономик России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https://proknulo.github.io/sberindex/landing/" TargetMode="External"/><Relationship Id="rId2" Type="http://schemas.openxmlformats.org/officeDocument/2006/relationships/hyperlink" Target="https://github.com/proknulo/sberindex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Восемь экономик России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Типы локальных экономик 1 815 муниципалитетов на динамической атрибутированной сети. Данные СберИндекса и Росстата, 2023–2024</a:t>
            </a:r>
            <a:endParaRPr lang="en-US" sz="2000" dirty="0"/>
          </a:p>
        </p:txBody>
      </p:sp>
      <p:pic>
        <p:nvPicPr>
          <p:cNvPr id="4" name="Фишка Столичные пригороды" descr="Столичные пригоро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92040"/>
            <a:ext cx="731520" cy="731520"/>
          </a:xfrm>
          <a:prstGeom prst="rect">
            <a:avLst/>
          </a:prstGeom>
        </p:spPr>
      </p:pic>
      <p:pic>
        <p:nvPicPr>
          <p:cNvPr id="5" name="Фишка Удалённый Северо-Восток" descr="Удалённый Северо-Вост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892040"/>
            <a:ext cx="731520" cy="731520"/>
          </a:xfrm>
          <a:prstGeom prst="rect">
            <a:avLst/>
          </a:prstGeom>
        </p:spPr>
      </p:pic>
      <p:pic>
        <p:nvPicPr>
          <p:cNvPr id="6" name="Фишка Ресурсные центры" descr="Ресурсные центр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892040"/>
            <a:ext cx="731520" cy="731520"/>
          </a:xfrm>
          <a:prstGeom prst="rect">
            <a:avLst/>
          </a:prstGeom>
        </p:spPr>
      </p:pic>
      <p:pic>
        <p:nvPicPr>
          <p:cNvPr id="7" name="Фишка Крупные города" descr="Крупные горо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892040"/>
            <a:ext cx="731520" cy="731520"/>
          </a:xfrm>
          <a:prstGeom prst="rect">
            <a:avLst/>
          </a:prstGeom>
        </p:spPr>
      </p:pic>
      <p:pic>
        <p:nvPicPr>
          <p:cNvPr id="8" name="Фишка Сибирь, ДВ и Север" descr="Сибирь и Дальний Восто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892040"/>
            <a:ext cx="731520" cy="731520"/>
          </a:xfrm>
          <a:prstGeom prst="rect">
            <a:avLst/>
          </a:prstGeom>
        </p:spPr>
      </p:pic>
      <p:pic>
        <p:nvPicPr>
          <p:cNvPr id="9" name="Фишка Индустриальные города" descr="Индустриальные город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892040"/>
            <a:ext cx="731520" cy="731520"/>
          </a:xfrm>
          <a:prstGeom prst="rect">
            <a:avLst/>
          </a:prstGeom>
        </p:spPr>
      </p:pic>
      <p:pic>
        <p:nvPicPr>
          <p:cNvPr id="10" name="Фишка Сельская Сибирь и Север" descr="Сельская Сибирь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892040"/>
            <a:ext cx="731520" cy="731520"/>
          </a:xfrm>
          <a:prstGeom prst="rect">
            <a:avLst/>
          </a:prstGeom>
        </p:spPr>
      </p:pic>
      <p:pic>
        <p:nvPicPr>
          <p:cNvPr id="11" name="Фишка Аграрная глубинка" descr="Аграрная глубинк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892040"/>
            <a:ext cx="731520" cy="731520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1AA"/>
                </a:solidFill>
              </a:rPr>
              <a:t>Номинация «Кластеризация», онлайн-конкурс СберИндекса,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Коротко: что мы нашли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Каждый месяц муниципалитет связывается с 15 экономически самыми похожими. В этой меняющейся сети устойчиво выделяются восемь типов локальных экономик.</a:t>
            </a:r>
            <a:endParaRPr lang="en-US" sz="1700" dirty="0"/>
          </a:p>
        </p:txBody>
      </p:sp>
      <p:sp>
        <p:nvSpPr>
          <p:cNvPr id="4" name="Показатель муниципалитетов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2328"/>
                </a:solidFill>
              </a:rPr>
              <a:t>1 815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муниципалитетов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МО с данными за 18+ месяцев из 24, без внутригородских территорий столиц</a:t>
            </a:r>
            <a:endParaRPr lang="en-US" sz="1400" dirty="0"/>
          </a:p>
        </p:txBody>
      </p:sp>
      <p:sp>
        <p:nvSpPr>
          <p:cNvPr id="8" name="Показатель месяца"/>
          <p:cNvSpPr/>
          <p:nvPr/>
        </p:nvSpPr>
        <p:spPr>
          <a:xfrm>
            <a:off x="333756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61188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2328"/>
                </a:solidFill>
              </a:rPr>
              <a:t>24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месяца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январь 2023 — декабрь 2024, сеть строится заново каждый месяц</a:t>
            </a:r>
            <a:endParaRPr lang="en-US" sz="1400" dirty="0"/>
          </a:p>
        </p:txBody>
      </p:sp>
      <p:sp>
        <p:nvSpPr>
          <p:cNvPr id="12" name="Показатель типа экономик"/>
          <p:cNvSpPr/>
          <p:nvPr/>
        </p:nvSpPr>
        <p:spPr>
          <a:xfrm>
            <a:off x="612648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2328"/>
                </a:solidFill>
              </a:rPr>
              <a:t>8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типа экономик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выбрано по устойчивости на подвыборках, а не «на глаз»</a:t>
            </a:r>
            <a:endParaRPr lang="en-US" sz="1400" dirty="0"/>
          </a:p>
        </p:txBody>
      </p:sp>
      <p:sp>
        <p:nvSpPr>
          <p:cNvPr id="16" name="Показатель МО не сменили тип"/>
          <p:cNvSpPr/>
          <p:nvPr/>
        </p:nvSpPr>
        <p:spPr>
          <a:xfrm>
            <a:off x="891540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18972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2328"/>
                </a:solidFill>
              </a:rPr>
              <a:t>71%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МО не сменили тип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91% переходов — в соседний тип: это граница, а не шум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Данные: спрос по СберИндексу, предложение по Росстату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Все источники сведены к territory_id — муниципалитету в постоянных границах, поэтому преобразования районов в округа не теряют данные.</a:t>
            </a:r>
            <a:endParaRPr lang="en-US" sz="1700" dirty="0"/>
          </a:p>
        </p:txBody>
      </p:sp>
      <p:sp>
        <p:nvSpPr>
          <p:cNvPr id="4" name="Источник СберИндекс"/>
          <p:cNvSpPr/>
          <p:nvPr/>
        </p:nvSpPr>
        <p:spPr>
          <a:xfrm>
            <a:off x="548640" y="210312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</a:rPr>
              <a:t>СберИндекс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Безналичные траты жителя по 5 категориям и в целом, месяц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Индекс доступности рынков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Автодорожные расстояния между центрами МО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Справочник границ и ОКТМО всех версий МО</a:t>
            </a:r>
            <a:endParaRPr lang="en-US" sz="1500" dirty="0"/>
          </a:p>
        </p:txBody>
      </p:sp>
      <p:sp>
        <p:nvSpPr>
          <p:cNvPr id="7" name="Источник Росстат, БДПМО"/>
          <p:cNvSpPr/>
          <p:nvPr/>
        </p:nvSpPr>
        <p:spPr>
          <a:xfrm>
            <a:off x="6172200" y="210312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</a:rPr>
              <a:t>Росстат, БДПМО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8803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Численность работников по 19 разделам ОКВЭД2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Среднемесячная зарплата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Население на 1 января, 2021–2024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E4550"/>
                </a:solidFill>
              </a:rPr>
              <a:t>Выгрузка по 88 региональным базам скриптом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В модели 1 815 МО. Внутригородские территории Москвы и Петербурга разобраны отдельно, а в восьми регионах нет данных СберИндекса — выводы относятся к покрытой территории.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25 признаков в шести блоках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Тип экономики — это и спрос (на что тратят жители), и предложение (чем зарабатывает территория). Доли переведены в CLR-координаты, блоки уравновешены весами.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005840"/>
                <a:gridCol w="6583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616975"/>
                          </a:solidFill>
                        </a:rPr>
                        <a:t>Блок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16975"/>
                          </a:solidFill>
                        </a:rPr>
                        <a:t>Признаков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16975"/>
                          </a:solidFill>
                        </a:rPr>
                        <a:t>Вес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616975"/>
                          </a:solidFill>
                        </a:rPr>
                        <a:t>Что описывает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Уровень трат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1,0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благосостояние и платёжеспособный спрос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Структура трат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1,0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продукты, здоровье, общепит, транспорт, маркетплейсы, прочее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Сезонность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0,5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курортные, дачные и северные территории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Отрасли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1,0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11 секторов занятости и сектор «не раскрыто» — признак моногорода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Рынок труда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0,75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относительная зарплата, роль центра занятости (вахта)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География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0,75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E4550"/>
                          </a:solidFill>
                        </a:rPr>
                        <a:t>доступность рынков и население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Каждый блок делится на √(число признаков) и умножается на вес, иначе 12 отраслевых признаков «перекричали» бы один уровень трат.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появляется ребро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Ребро означает, что два муниципалитета похоже устроены экономически. Сеть строится заново для каждого из 24 месяцев.</a:t>
            </a:r>
            <a:endParaRPr lang="en-US" sz="1700" dirty="0"/>
          </a:p>
        </p:txBody>
      </p:sp>
      <p:sp>
        <p:nvSpPr>
          <p:cNvPr id="4" name="Формула ребра"/>
          <p:cNvSpPr/>
          <p:nvPr/>
        </p:nvSpPr>
        <p:spPr>
          <a:xfrm>
            <a:off x="548640" y="20574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wᵢⱼ(t) = exp(−‖xᵢ,ₜ − xⱼ,ₜ‖² / (σᵢσⱼ)),  если j среди 15 ближайших к i или i среди 15 ближайших к j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kNN вместо порога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550"/>
                </a:solidFill>
              </a:rPr>
              <a:t>Каждый МО получает одинаковую «видимость»: плотные группы не сливаются в один клубок, а уникальные МО вроде Норильска не становятся изолятами.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Локальный масштаб σ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0233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550"/>
                </a:solidFill>
              </a:rPr>
              <a:t>σᵢ — расстояние до 7-го соседа. Веса выравниваются в плотных и редких областях, и спектральный разрез не отрезает выбросы.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Объединение соседей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0233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550"/>
                </a:solidFill>
              </a:rPr>
              <a:t>Ребро есть, если хотя бы один считает другого соседом. Периферийный МО сохраняет связь с ближайшим типом; граф связный, около 22 рёбер на узел.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Семь правил построения рёбер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Июнь 2024, спектральная кластеризация на графе каждого правила, k = 8. Лучшее правило по признакам и лучшее по графу — разные.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92024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Атрибутное сходство лучше всех по SW, CH и S_Dbw. Дорожная близость лучшая по AVI, но её кластеры — это просто куски карты: 71% рёбер внутри региона. Корреляции, лаги и DTW дают отрицательный силуэт: они показывают, кто движется вместе, а не кто устроен одинаково.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Девять методов и шесть индексов качества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Средние по 24 месяцам на атрибутном графе, k = 8. Итоговая модель — лучшая по среднему рангу шести ICVI и по стабильности во времени.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777240"/>
                <a:gridCol w="868680"/>
                <a:gridCol w="822960"/>
                <a:gridCol w="822960"/>
                <a:gridCol w="822960"/>
                <a:gridCol w="960120"/>
                <a:gridCol w="86868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Метод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SW ↑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CH ↑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S_Dbw ↓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AVI ↑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AVU ↓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MQ ↑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Стабильн.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Устойч.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16975"/>
                          </a:solidFill>
                        </a:rPr>
                        <a:t>Ранг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Спектральная эволюционная (итог)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0,118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265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0,482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0,788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0,066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0,052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0,947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0,829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550"/>
                          </a:solidFill>
                        </a:rPr>
                        <a:t>3,0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Спектральная (только граф)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0,116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264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0,483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0,787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0,066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0,052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0,892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0,829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4,0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AGC эволюционная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0,107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297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0,453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0,776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0,045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0,913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0,762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4,8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K-means эволюционная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0,103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306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0,453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0,764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0,035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0,906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0,592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5,0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K-means (только атрибуты)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0,104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307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0,430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0,754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0,031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0,669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0,592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5,2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AGC (атрибуты + граф)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0,102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300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0,442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0,775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0,078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0,037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0,785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0,762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5,3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Темпоральный Leiden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0,067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244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0,422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0,783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0,066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0,034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0,834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5,3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Leiden (только граф)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251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0,425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0,780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0,029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0,644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0,533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5,7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Ward (только атрибуты)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0,073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269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0,468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0,749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0,075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0,036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0,454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0,380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4550"/>
                          </a:solidFill>
                        </a:rPr>
                        <a:t>6,7</a:t>
                      </a:r>
                      <a:endParaRPr lang="en-US" sz="125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6975"/>
                </a:solidFill>
              </a:rPr>
              <a:t>SW, CH, S_Dbw — на облаке точек в пространстве признаков; AVI, AVU, MQ — на графе. CH и S_Dbw благоприятствуют сферическим кластерам K-means, поэтому решение принимается по среднему рангу, а не по одному индексу.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Почему восемь типов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Индексы качества почти монотонны по k, «локтя» нет. Поэтому правило — наибольшее k, при котором разбиение воспроизводится на подвыборках 80% МО с ARI не ниже 0,8.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о выборе k"/>
          <p:cNvSpPr/>
          <p:nvPr/>
        </p:nvSpPr>
        <p:spPr>
          <a:xfrm>
            <a:off x="8321040" y="210312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59536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F2328"/>
                </a:solidFill>
              </a:rPr>
              <a:t>0,83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устойчивость при k = 8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7033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При k = 9 она обрывается до 0,53 и дальше не восстанавливается: внутри самого массового типа экономическое пространство непрерывно, и его дробление неустойчиво.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типы прослеживаются во времени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Эволюционная спектральная кластеризация: разбиение месяца должно хорошо резать и текущую сеть, и сглаженную историю.</a:t>
            </a:r>
            <a:endParaRPr lang="en-US" sz="1700" dirty="0"/>
          </a:p>
        </p:txBody>
      </p:sp>
      <p:sp>
        <p:nvSpPr>
          <p:cNvPr id="4" name="Формула памяти"/>
          <p:cNvSpPr/>
          <p:nvPr/>
        </p:nvSpPr>
        <p:spPr>
          <a:xfrm>
            <a:off x="548640" y="20574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W̃ₜ = α·Wₜ + (1 − α)·W̃ₜ₋₁,   α = 0,5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6975"/>
                </a:solidFill>
              </a:rPr>
              <a:t>Метки месяцев согласуются с прошлым месяцем венгерским алгоритмом по матрице перекрытий.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</a:rPr>
              <a:t>0,95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6975"/>
                </a:solidFill>
              </a:rPr>
              <a:t>ARI соседних месяцев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</a:rPr>
              <a:t>0,67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6975"/>
                </a:solidFill>
              </a:rPr>
              <a:t>ARI янв 2023 ↔ дек 2024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</a:rPr>
              <a:t>3,1%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6975"/>
                </a:solidFill>
              </a:rPr>
              <a:t>МО меняют тип за месяц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</a:rPr>
              <a:t>71%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4343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6975"/>
                </a:solidFill>
              </a:rPr>
              <a:t>МО не сменили тип ни разу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Экспоненциальная память убирает ложные скачки, когда граница типа перестраивается без изменения признаков, но сохраняет сезонные сдвиги, длящиеся несколько месяцев. События слияния, разделения, рождения и исчезновения типов фиксируются по доле пересечения состава (порог 0,3).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Карта восьми типов</a:t>
            </a:r>
            <a:endParaRPr lang="en-US" sz="3000" dirty="0"/>
          </a:p>
        </p:txBody>
      </p:sp>
      <p:pic>
        <p:nvPicPr>
          <p:cNvPr id="3" name="Карта типов" descr="Карта типов локальных экономик России, июнь 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287" y="1234440"/>
            <a:ext cx="8267120" cy="4434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Координат в модели нет, но типы складываются в связные районы: ресурсный пояс Севера, Якутия и Колыма, сельский юг Сибири, мозаика индустриальных городов и аграрной глубинки в центре и Поволжье.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Восемь типов: богатые полюса</a:t>
            </a:r>
            <a:endParaRPr lang="en-US" sz="3000" dirty="0"/>
          </a:p>
        </p:txBody>
      </p:sp>
      <p:sp>
        <p:nvSpPr>
          <p:cNvPr id="3" name="Тип Столичные пригороды"/>
          <p:cNvSpPr/>
          <p:nvPr/>
        </p:nvSpPr>
        <p:spPr>
          <a:xfrm>
            <a:off x="548640" y="12801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4" name="Image 0" descr="Столичные пригоро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Пригороды столичных агломераций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103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56 МО, траты 41 019 ₽ в месяц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Подмосковье и Ленинградская область. Самые высокие траты жителя и максимальная доступность рынков.</a:t>
            </a:r>
            <a:endParaRPr lang="en-US" sz="1300" dirty="0"/>
          </a:p>
        </p:txBody>
      </p:sp>
      <p:sp>
        <p:nvSpPr>
          <p:cNvPr id="8" name="Тип Удалённый Северо-Восток"/>
          <p:cNvSpPr/>
          <p:nvPr/>
        </p:nvSpPr>
        <p:spPr>
          <a:xfrm>
            <a:off x="6172200" y="12801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9" name="Image 1" descr="Удалённый Северо-Вост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Удалённый Северо-Восток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60920" y="2103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47 МО, траты 39 199 ₽ в месяц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514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Якутские улусы, Камчатка, Колыма, Курилы, Чукотка. Высокие траты и зарплаты (северные надбавки), но маркетплейсы занимают всего 4–7% трат, в 3 раза меньше типичного: сказывается логистическая изоляция.</a:t>
            </a:r>
            <a:endParaRPr lang="en-US" sz="1300" dirty="0"/>
          </a:p>
        </p:txBody>
      </p:sp>
      <p:sp>
        <p:nvSpPr>
          <p:cNvPr id="13" name="Тип Ресурсные центры"/>
          <p:cNvSpPr/>
          <p:nvPr/>
        </p:nvSpPr>
        <p:spPr>
          <a:xfrm>
            <a:off x="548640" y="3840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Ресурсные центр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40233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Ресурсные и вахтовые центры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737360" y="4663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82 МО, траты 38 283 ₽ в месяц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Норильск, Югра, Ямал, Мурманская область, Коми, алмазная Якутия. Добыча — около 20% занятости крупных и средних организаций, ещё выделяется строительство.</a:t>
            </a:r>
            <a:endParaRPr lang="en-US" sz="1300" dirty="0"/>
          </a:p>
        </p:txBody>
      </p:sp>
      <p:sp>
        <p:nvSpPr>
          <p:cNvPr id="18" name="Тип Крупные города"/>
          <p:cNvSpPr/>
          <p:nvPr/>
        </p:nvSpPr>
        <p:spPr>
          <a:xfrm>
            <a:off x="6172200" y="3840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Крупные горо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0690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40233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Крупные города и региональные центры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360920" y="4663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87 МО, траты 33 968 ₽ в месяц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Миллионники и региональные столицы. Рыночные услуги (IT, финансы, B2B), обработка, общепит и здоровье в тратах выше среднего.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Восемь типов: Сибирь, промышленность и село</a:t>
            </a:r>
            <a:endParaRPr lang="en-US" sz="3000" dirty="0"/>
          </a:p>
        </p:txBody>
      </p:sp>
      <p:sp>
        <p:nvSpPr>
          <p:cNvPr id="3" name="Тип Сибирь и Дальний Восток"/>
          <p:cNvSpPr/>
          <p:nvPr/>
        </p:nvSpPr>
        <p:spPr>
          <a:xfrm>
            <a:off x="548640" y="12801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4" name="Image 0" descr="Сибирь и Дальний Восто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Города и районы Сибири, ДВ и Севера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103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178 МО, траты 28 331 ₽ в месяц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Приморье, Красноярский и Забайкальский края, Приангарье, Амурская область: Артём, Междуреченск, Биробиджан, Усть-Илимск. Зарплаты выше медианы (районные коэффициенты), заметна транспортная занятость, доступность рынков низкая.</a:t>
            </a:r>
            <a:endParaRPr lang="en-US" sz="1300" dirty="0"/>
          </a:p>
        </p:txBody>
      </p:sp>
      <p:sp>
        <p:nvSpPr>
          <p:cNvPr id="8" name="Тип Индустриальные города"/>
          <p:cNvSpPr/>
          <p:nvPr/>
        </p:nvSpPr>
        <p:spPr>
          <a:xfrm>
            <a:off x="6172200" y="12801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9" name="Image 1" descr="Индустриальные город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Индустриальные малые и средние города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60920" y="2103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491 МО, траты 26 191 ₽ в месяц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514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Урал, Поволжье, Предкавказье: Орск, Сызрань, Нефтекамск, Зеленодольск. Обработка — около 18% занятости, средний уровень трат, хорошая доступность рынков.</a:t>
            </a:r>
            <a:endParaRPr lang="en-US" sz="1300" dirty="0"/>
          </a:p>
        </p:txBody>
      </p:sp>
      <p:sp>
        <p:nvSpPr>
          <p:cNvPr id="13" name="Тип Сельская Сибирь"/>
          <p:cNvSpPr/>
          <p:nvPr/>
        </p:nvSpPr>
        <p:spPr>
          <a:xfrm>
            <a:off x="548640" y="3840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Сельская Сибир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40233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Сельская периферия Сибири и Севера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737360" y="4663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100 МО, траты 23 628 ₽ в месяц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Районы Приангарья, Тывы, Алтая, Новосибирской области и Красноярского края. Бюджетный сектор даёт две трети занятости (максимум среди типов).</a:t>
            </a:r>
            <a:endParaRPr lang="en-US" sz="1300" dirty="0"/>
          </a:p>
        </p:txBody>
      </p:sp>
      <p:sp>
        <p:nvSpPr>
          <p:cNvPr id="18" name="Тип Аграрная глубинка"/>
          <p:cNvSpPr/>
          <p:nvPr/>
        </p:nvSpPr>
        <p:spPr>
          <a:xfrm>
            <a:off x="6172200" y="384048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Аграрная глуби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0690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40233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Аграрная глубинка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360920" y="4663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773 МО, траты 20 318 ₽ в месяц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550"/>
                </a:solidFill>
              </a:rPr>
              <a:t>Самый массовый тип, около 43% МО: сельские районы Алтайского края, Кировской, Саратовской, Оренбургской областей, Башкортостана. Минимальные траты, наибольшие доли продуктов (48%) и маркетплейсов (до 18%).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Москва и Петербург: пять типов районов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16975"/>
                </a:solidFill>
              </a:rPr>
              <a:t>243 внутригородские территории типизированы отдельно и только по тратам: данных Росстата по районам нет. Москва и Петербург перемешаны внутри типов — тип района задаёт его положение (центр, срединное кольцо, спальный район, окраина), а не город.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Подпись Москва"/>
          <p:cNvSpPr txBox="1"/>
          <p:nvPr/>
        </p:nvSpPr>
        <p:spPr>
          <a:xfrm>
            <a:off x="548640" y="12344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2328"/>
                </a:solidFill>
              </a:rPr>
              <a:t>Москва · 144 района</a:t>
            </a:r>
          </a:p>
        </p:txBody>
      </p:sp>
      <p:sp>
        <p:nvSpPr>
          <p:cNvPr id="27" name="Подпись Петербург"/>
          <p:cNvSpPr txBox="1"/>
          <p:nvPr/>
        </p:nvSpPr>
        <p:spPr>
          <a:xfrm>
            <a:off x="3840480" y="1234440"/>
            <a:ext cx="28072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2328"/>
                </a:solidFill>
              </a:rPr>
              <a:t>Санкт-Петербург · 99 районов</a:t>
            </a:r>
          </a:p>
        </p:txBody>
      </p:sp>
      <p:pic>
        <p:nvPicPr>
          <p:cNvPr id="28" name="Карта районов Москвы" descr="m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111731" cy="3657600"/>
          </a:xfrm>
          <a:prstGeom prst="rect">
            <a:avLst/>
          </a:prstGeom>
        </p:spPr>
      </p:pic>
      <p:pic>
        <p:nvPicPr>
          <p:cNvPr id="29" name="Карта районов Петербурга" descr="sp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645920"/>
            <a:ext cx="2808593" cy="2926080"/>
          </a:xfrm>
          <a:prstGeom prst="rect">
            <a:avLst/>
          </a:prstGeom>
        </p:spPr>
      </p:pic>
      <p:sp>
        <p:nvSpPr>
          <p:cNvPr id="30" name="Цвет типа 1"/>
          <p:cNvSpPr/>
          <p:nvPr/>
        </p:nvSpPr>
        <p:spPr>
          <a:xfrm>
            <a:off x="6949440" y="1271016"/>
            <a:ext cx="237744" cy="237744"/>
          </a:xfrm>
          <a:prstGeom prst="roundRect">
            <a:avLst/>
          </a:prstGeom>
          <a:solidFill>
            <a:srgbClr val="6B0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Тип района 1"/>
          <p:cNvSpPr txBox="1"/>
          <p:nvPr/>
        </p:nvSpPr>
        <p:spPr>
          <a:xfrm>
            <a:off x="7333488" y="123444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F2328"/>
                </a:solidFill>
              </a:rPr>
              <a:t>Престижный центр и запад Москвы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154533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35 районов: 33 в Москве, 2 в Петербурге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178308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траты 59 310 ₽ · продукты 28% · общепит 9,0%</a:t>
            </a:r>
          </a:p>
        </p:txBody>
      </p:sp>
      <p:sp>
        <p:nvSpPr>
          <p:cNvPr id="34" name="Цвет типа 2"/>
          <p:cNvSpPr/>
          <p:nvPr/>
        </p:nvSpPr>
        <p:spPr>
          <a:xfrm>
            <a:off x="6949440" y="2139696"/>
            <a:ext cx="237744" cy="237744"/>
          </a:xfrm>
          <a:prstGeom prst="roundRect">
            <a:avLst/>
          </a:prstGeom>
          <a:solidFill>
            <a:srgbClr val="A1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Тип района 2"/>
          <p:cNvSpPr txBox="1"/>
          <p:nvPr/>
        </p:nvSpPr>
        <p:spPr>
          <a:xfrm>
            <a:off x="7333488" y="210312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F2328"/>
                </a:solidFill>
              </a:rPr>
              <a:t>Обеспеченные срединные районы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2414015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66 районов: 32 в Москве, 34 в Петербурге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265176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траты 48 709 ₽ · продукты 31% · общепит 8,5%</a:t>
            </a:r>
          </a:p>
        </p:txBody>
      </p:sp>
      <p:sp>
        <p:nvSpPr>
          <p:cNvPr id="38" name="Цвет типа 3"/>
          <p:cNvSpPr/>
          <p:nvPr/>
        </p:nvSpPr>
        <p:spPr>
          <a:xfrm>
            <a:off x="6949440" y="3008376"/>
            <a:ext cx="237744" cy="237744"/>
          </a:xfrm>
          <a:prstGeom prst="roundRect">
            <a:avLst/>
          </a:prstGeom>
          <a:solidFill>
            <a:srgbClr val="CF5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Тип района 3"/>
          <p:cNvSpPr txBox="1"/>
          <p:nvPr/>
        </p:nvSpPr>
        <p:spPr>
          <a:xfrm>
            <a:off x="7333488" y="297180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F2328"/>
                </a:solidFill>
              </a:rPr>
              <a:t>Спальные районы Москвы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328269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60 районов: 52 в Москве, 8 в Петербурге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352044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траты 46 767 ₽ · продукты 33% · общепит 7,3%</a:t>
            </a:r>
          </a:p>
        </p:txBody>
      </p:sp>
      <p:sp>
        <p:nvSpPr>
          <p:cNvPr id="42" name="Цвет типа 4"/>
          <p:cNvSpPr/>
          <p:nvPr/>
        </p:nvSpPr>
        <p:spPr>
          <a:xfrm>
            <a:off x="6949440" y="3877056"/>
            <a:ext cx="237744" cy="237744"/>
          </a:xfrm>
          <a:prstGeom prst="roundRect">
            <a:avLst/>
          </a:prstGeom>
          <a:solidFill>
            <a:srgbClr val="E2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Тип района 4"/>
          <p:cNvSpPr txBox="1"/>
          <p:nvPr/>
        </p:nvSpPr>
        <p:spPr>
          <a:xfrm>
            <a:off x="7333488" y="384048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F2328"/>
                </a:solidFill>
              </a:rPr>
              <a:t>Городские районы Петербурга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415137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43 района: 3 в Москве, 40 в Петербурге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438912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траты 41 894 ₽ · продукты 34% · общепит 7,7%</a:t>
            </a:r>
          </a:p>
        </p:txBody>
      </p:sp>
      <p:sp>
        <p:nvSpPr>
          <p:cNvPr id="46" name="Цвет типа 5"/>
          <p:cNvSpPr/>
          <p:nvPr/>
        </p:nvSpPr>
        <p:spPr>
          <a:xfrm>
            <a:off x="6949440" y="4745736"/>
            <a:ext cx="237744" cy="237744"/>
          </a:xfrm>
          <a:prstGeom prst="roundRect">
            <a:avLst/>
          </a:prstGeom>
          <a:solidFill>
            <a:srgbClr val="ED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Тип района 5"/>
          <p:cNvSpPr txBox="1"/>
          <p:nvPr/>
        </p:nvSpPr>
        <p:spPr>
          <a:xfrm>
            <a:off x="7333488" y="470916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F2328"/>
                </a:solidFill>
              </a:rPr>
              <a:t>Периферия столиц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3488" y="502005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39 районов: 24 в Москве, 15 в Петербурге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488" y="525780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16975"/>
                </a:solidFill>
              </a:rPr>
              <a:t>траты 40 850 ₽ · продукты 35% · общепит 6,3%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меняется состав типов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Доля муниципалитетов каждого типа по месяцам. Большинство территорий держатся своего типа; заметные сдвиги — на границах.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</a:rPr>
              <a:t>31% → 24%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4550"/>
                </a:solidFill>
              </a:rPr>
              <a:t>индустриальный тип сжимается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154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6975"/>
                </a:solidFill>
              </a:rPr>
              <a:t>У ушедших в аграрный тип доля обработки в занятости упала с 12% до 7%.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1605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</a:rPr>
              <a:t>до 10%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4550"/>
                </a:solidFill>
              </a:rPr>
              <a:t>сельская Сибирь и Север летом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6975"/>
                </a:solidFill>
              </a:rPr>
              <a:t>Районы с дачным и туристическим пиком трат летом переходят в этот тип и возвращаются осенью.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Маркетплейсы приходят во все типы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Медиана доли маркетплейсов в тратах при фиксированном составе типа. Быстрее всего — там, где мало офлайн-магазинов; на Северо-Востоке доля остаётся самой низкой из-за доставки.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11247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6975"/>
                </a:solidFill>
              </a:rPr>
              <a:t>Декабрь — пик онлайн-покупок; по среднегодовым значениям рост скромнее: +34–45% в большинстве типов, +84% на Северо-Востоке.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Почему этому можно доверять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Убираем блок признаков целиком и сравниваем разбиение с итоговым (ARI, июнь 2024). Каждый блок, кроме рынка труда, держит какие-то типы.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0116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Модель не зависит от настроек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468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550"/>
                </a:solidFill>
              </a:rPr>
              <a:t>Смена seed, масштаба ядра, памяти и числа соседей: ARI 0,90–1,00.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Карта подтверждает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550"/>
                </a:solidFill>
              </a:rPr>
              <a:t>Соседи по дороге совпадают по типу в 53% случаев против 29% случайно (z = 43), хотя координат в модели нет.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Честные ограничения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5212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550"/>
                </a:solidFill>
              </a:rPr>
              <a:t>Два года данных, отрасли только по крупным и средним организациям, безналичные траты. Переходные сибирские типы чувствительны к весам — так и пишем.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это использовать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Типология — инструмент для сравнения территорий и мониторинга, а не только описание.</a:t>
            </a:r>
            <a:endParaRPr lang="en-US" sz="1700" dirty="0"/>
          </a:p>
        </p:txBody>
      </p:sp>
      <p:sp>
        <p:nvSpPr>
          <p:cNvPr id="4" name="Экономические двойники"/>
          <p:cNvSpPr/>
          <p:nvPr/>
        </p:nvSpPr>
        <p:spPr>
          <a:xfrm>
            <a:off x="548640" y="21031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5" name="Image 0" descr="Экономические двойни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Экономические двойники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69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Для каждого МО — пять самых похожих из других регионов. Сравнивать район с двойником корректнее, чем с соседом по региону: готовый список для бенчмаркинга и переноса практик.</a:t>
            </a:r>
            <a:endParaRPr lang="en-US" sz="1400" dirty="0"/>
          </a:p>
        </p:txBody>
      </p:sp>
      <p:sp>
        <p:nvSpPr>
          <p:cNvPr id="8" name="Разная политика для разных типов"/>
          <p:cNvSpPr/>
          <p:nvPr/>
        </p:nvSpPr>
        <p:spPr>
          <a:xfrm>
            <a:off x="4297680" y="21031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9" name="Image 1" descr="Разная политика для разных типо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3172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Разная политика для разных типов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Логистика и доставка для Северо-Востока, диверсификация для ресурсных и моногородов, поддержка индустриальных городов, теряющих промышленную занятость.</a:t>
            </a:r>
            <a:endParaRPr lang="en-US" sz="1400" dirty="0"/>
          </a:p>
        </p:txBody>
      </p:sp>
      <p:sp>
        <p:nvSpPr>
          <p:cNvPr id="12" name="Ранний сигнал сдвига"/>
          <p:cNvSpPr/>
          <p:nvPr/>
        </p:nvSpPr>
        <p:spPr>
          <a:xfrm>
            <a:off x="8046720" y="21031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Ранний сигнал сдвиг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33172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Ранний сигнал сдвига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4069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Переход МО в «соседний вниз» тип виден по месячным данным СберИндекса раньше, чем в годовой статистике: основа для мониторинга структурных изменений.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Лендинг и воспроизводимость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6975"/>
                </a:solidFill>
              </a:rPr>
              <a:t>Интерактивная страница с интерпретацией результатов и открытый код, который запускается одной командой в Windows, macOS и Linux.</a:t>
            </a:r>
            <a:endParaRPr lang="en-US" sz="1700" dirty="0"/>
          </a:p>
        </p:txBody>
      </p:sp>
      <p:sp>
        <p:nvSpPr>
          <p:cNvPr id="4" name="Лендинг"/>
          <p:cNvSpPr/>
          <p:nvPr/>
        </p:nvSpPr>
        <p:spPr>
          <a:xfrm>
            <a:off x="548640" y="2057400"/>
            <a:ext cx="5760720" cy="4023360"/>
          </a:xfrm>
          <a:prstGeom prst="roundRect">
            <a:avLst>
              <a:gd name="adj" fmla="val 272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22960" y="2240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F232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proknulo.github.io/sberindex/landing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Карта на подложке OpenStreetMap: слои, анимация по месяцам, фишки типов с анимацией смены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Портреты типов и карточки МО с экономическими двойниками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Игра «Угадайте экономику» по профилю настоящего МО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Истории изменений с переходом на карту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Сеть-паутина с приближением: чем ближе, тем больше городов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E4550"/>
                </a:solidFill>
              </a:rPr>
              <a:t>Сравнение методов и ICVI, выбор k, устойчивость; скачивание CSV</a:t>
            </a:r>
            <a:endParaRPr lang="en-US" sz="1400" dirty="0"/>
          </a:p>
        </p:txBody>
      </p:sp>
      <p:sp>
        <p:nvSpPr>
          <p:cNvPr id="7" name="Запуск"/>
          <p:cNvSpPr/>
          <p:nvPr/>
        </p:nvSpPr>
        <p:spPr>
          <a:xfrm>
            <a:off x="6583680" y="205740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  <p:txBody>
          <a:bodyPr/>
          <a:p/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685800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F232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github.com/proknulo/sberindex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setup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all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4160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550"/>
                </a:solidFill>
              </a:rPr>
              <a:t>Гиперпараметры — configs/default.yaml, случайность зафиксирована: повторный запуск даёт те же типы. Тесты индексов, методологический отчёт и этот файл — в репозитории.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69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Восемь экономик, одна сеть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Лендинг: proknulo.github.io/sberindex/landing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Код и отчёт: github.com/proknulo/sberindex</a:t>
            </a:r>
            <a:endParaRPr lang="en-US" sz="2000" dirty="0"/>
          </a:p>
        </p:txBody>
      </p:sp>
      <p:pic>
        <p:nvPicPr>
          <p:cNvPr id="4" name="Image 0" descr="Столичные пригоро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92040"/>
            <a:ext cx="731520" cy="731520"/>
          </a:xfrm>
          <a:prstGeom prst="rect">
            <a:avLst/>
          </a:prstGeom>
        </p:spPr>
      </p:pic>
      <p:pic>
        <p:nvPicPr>
          <p:cNvPr id="5" name="Image 1" descr="Удалённый Северо-Вост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892040"/>
            <a:ext cx="731520" cy="731520"/>
          </a:xfrm>
          <a:prstGeom prst="rect">
            <a:avLst/>
          </a:prstGeom>
        </p:spPr>
      </p:pic>
      <p:pic>
        <p:nvPicPr>
          <p:cNvPr id="6" name="Image 2" descr="Ресурсные центр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892040"/>
            <a:ext cx="731520" cy="731520"/>
          </a:xfrm>
          <a:prstGeom prst="rect">
            <a:avLst/>
          </a:prstGeom>
        </p:spPr>
      </p:pic>
      <p:pic>
        <p:nvPicPr>
          <p:cNvPr id="7" name="Image 3" descr="Крупные горо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892040"/>
            <a:ext cx="731520" cy="731520"/>
          </a:xfrm>
          <a:prstGeom prst="rect">
            <a:avLst/>
          </a:prstGeom>
        </p:spPr>
      </p:pic>
      <p:pic>
        <p:nvPicPr>
          <p:cNvPr id="8" name="Image 4" descr="Сибирь и Дальний Восто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892040"/>
            <a:ext cx="731520" cy="731520"/>
          </a:xfrm>
          <a:prstGeom prst="rect">
            <a:avLst/>
          </a:prstGeom>
        </p:spPr>
      </p:pic>
      <p:pic>
        <p:nvPicPr>
          <p:cNvPr id="9" name="Image 5" descr="Индустриальные город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892040"/>
            <a:ext cx="731520" cy="731520"/>
          </a:xfrm>
          <a:prstGeom prst="rect">
            <a:avLst/>
          </a:prstGeom>
        </p:spPr>
      </p:pic>
      <p:pic>
        <p:nvPicPr>
          <p:cNvPr id="10" name="Image 6" descr="Сельская Сибирь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892040"/>
            <a:ext cx="731520" cy="731520"/>
          </a:xfrm>
          <a:prstGeom prst="rect">
            <a:avLst/>
          </a:prstGeom>
        </p:spPr>
      </p:pic>
      <p:pic>
        <p:nvPicPr>
          <p:cNvPr id="11" name="Image 7" descr="Аграрная глубинк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892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Восемь экономик">
  <a:themeElements>
    <a:clrScheme name="Восемь экономик">
      <a:dk1>
        <a:srgbClr val="1F2328"/>
      </a:dk1>
      <a:lt1>
        <a:srgbClr val="FFFFFF"/>
      </a:lt1>
      <a:dk2>
        <a:srgbClr val="3E4550"/>
      </a:dk2>
      <a:lt2>
        <a:srgbClr val="F6F7F9"/>
      </a:lt2>
      <a:accent1>
        <a:srgbClr val="E07B39"/>
      </a:accent1>
      <a:accent2>
        <a:srgbClr val="7CC6EE"/>
      </a:accent2>
      <a:accent3>
        <a:srgbClr val="7B4FC9"/>
      </a:accent3>
      <a:accent4>
        <a:srgbClr val="14808F"/>
      </a:accent4>
      <a:accent5>
        <a:srgbClr val="C2452D"/>
      </a:accent5>
      <a:accent6>
        <a:srgbClr val="2E8B57"/>
      </a:accent6>
      <a:hlink>
        <a:srgbClr val="3D63C9"/>
      </a:hlink>
      <a:folHlink>
        <a:srgbClr val="7B4FC9"/>
      </a:folHlink>
    </a:clrScheme>
    <a:fontScheme name="Восемь экономик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Восемь экономик России</dc:title>
  <dc:subject>Кластеризация муниципалитетов на динамической атрибутированной сети</dc:subject>
  <dc:creator>PptxGenJS</dc:creator>
  <cp:lastModifiedBy>PptxGenJS</cp:lastModifiedBy>
  <cp:revision>1</cp:revision>
  <dcterms:created xsi:type="dcterms:W3CDTF">2026-10-02T12:02:57Z</dcterms:created>
  <dcterms:modified xsi:type="dcterms:W3CDTF">2026-10-02T12:02:57Z</dcterms:modified>
</cp:coreProperties>
</file>